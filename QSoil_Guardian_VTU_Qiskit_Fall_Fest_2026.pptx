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t"/>
          <a:lstStyle/>
          <a:p>
            <a:pPr marL="0" indent="0">
              <a:buNone/>
            </a:pPr>
            <a:r>
              <a:rPr sz="1100" b="0" i="0">
                <a:solidFill>
                  <a:srgbClr val="5C5C84"/>
                </a:solidFill>
                <a:latin typeface="Aptos"/>
              </a:rPr>
              <a:t>VTU-QFF-HC-0019 · Tier: Both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1600" b="1" i="0">
                <a:solidFill>
                  <a:srgbClr val="371F5B"/>
                </a:solidFill>
                <a:latin typeface="Aptos"/>
              </a:rPr>
              <a:t>QSoil Guardian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1100" b="0" i="0">
                <a:solidFill>
                  <a:srgbClr val="371F5B"/>
                </a:solidFill>
                <a:latin typeface="Aptos"/>
              </a:rPr>
              <a:t>Sustainability · Quantum optimization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1200" b="1" i="0">
                <a:solidFill>
                  <a:srgbClr val="371F5B"/>
                </a:solidFill>
                <a:latin typeface="Aptos"/>
              </a:rPr>
              <a:t>Hacktrioz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1100" b="0" i="0">
                <a:solidFill>
                  <a:srgbClr val="371F5B"/>
                </a:solidFill>
                <a:latin typeface="Aptos"/>
              </a:rPr>
              <a:t>Add team lead name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1000" b="0" i="0">
                <a:solidFill>
                  <a:srgbClr val="371F5B"/>
                </a:solidFill>
                <a:latin typeface="Aptos"/>
              </a:rPr>
              <a:t>Add contact email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45720" rIns="45720" rtlCol="0" anchor="t"/>
          <a:lstStyle/>
          <a:p>
            <a:pPr marL="0" indent="0" algn="l">
              <a:buNone/>
            </a:pPr>
            <a:r>
              <a:rPr sz="1200" b="0" i="0">
                <a:solidFill>
                  <a:srgbClr val="371F5B"/>
                </a:solidFill>
                <a:latin typeface="Aptos"/>
              </a:rPr>
              <a:t>Team members: update names before submission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900" b="0" i="0">
                <a:solidFill>
                  <a:srgbClr val="371F5B"/>
                </a:solidFill>
                <a:latin typeface="Aptos"/>
              </a:rPr>
              <a:t>Visvesvaraya Technological University, Belagavi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1200" b="0" i="0">
                <a:solidFill>
                  <a:srgbClr val="371F5B"/>
                </a:solidFill>
                <a:latin typeface="Aptos"/>
              </a:rPr>
              <a:t>India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2286000" y="197158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Set-Location "C:\Users\Dell\Desktop\git n </a:t>
            </a: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 err="1"/>
              <a:t>wid</a:t>
            </a:r>
            <a:r>
              <a:rPr lang="en-IN" dirty="0"/>
              <a:t> </a:t>
            </a:r>
            <a:r>
              <a:rPr lang="en-IN" dirty="0" err="1"/>
              <a:t>VSc</a:t>
            </a:r>
            <a:r>
              <a:rPr lang="en-IN" dirty="0"/>
              <a:t>"</a:t>
            </a:r>
          </a:p>
          <a:p>
            <a:r>
              <a:rPr lang="en-IN"/>
              <a:t>git clone https://github.com/vtu-qiskit-fall-fest-2026/vtu-hc-hacktrioz.git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35240" cy="2606040"/>
          </a:xfrm>
          <a:prstGeom prst="rect">
            <a:avLst/>
          </a:prstGeom>
          <a:noFill/>
          <a:ln/>
        </p:spPr>
        <p:txBody>
          <a:bodyPr wrap="square" lIns="27432" tIns="36576" rIns="36576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371F5B"/>
                </a:solidFill>
                <a:latin typeface="Aptos"/>
              </a:rPr>
              <a:t>THE PROBLEM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D244B"/>
                </a:solidFill>
                <a:latin typeface="Aptos"/>
              </a:rPr>
              <a:t>Farm fields vary: moisture, pH and nutrient availability can differ across short distances. Treating every zone identically can waste irrigation water and fertilizer, while excess fertilizer can harm waterways and contribute to emissions.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71F5B"/>
                </a:solidFill>
                <a:latin typeface="Aptos"/>
              </a:rPr>
              <a:t>WHY IT MATTERS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D244B"/>
                </a:solidFill>
                <a:latin typeface="Aptos"/>
              </a:rPr>
              <a:t>Farmers need clear, affordable decision support that prioritizes where to investigate, irrigate or test soil—without pretending a few readings can replace agronomic judgement.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71F5B"/>
                </a:solidFill>
                <a:latin typeface="Aptos"/>
              </a:rPr>
              <a:t>PROJECT SCOPE</a:t>
            </a:r>
          </a:p>
          <a:p>
            <a:pPr>
              <a:spcAft>
                <a:spcPts val="400"/>
              </a:spcAft>
            </a:pPr>
            <a:r>
              <a:rPr sz="1200" i="1">
                <a:solidFill>
                  <a:srgbClr val="5C5C84"/>
                </a:solidFill>
                <a:latin typeface="Aptos"/>
              </a:rPr>
              <a:t>QSoil Guardian is a laptop-only prototype using synthetic example data. It demonstrates a workflow; it does not claim field-validated savings or diagnose real soil.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35240" cy="2606040"/>
          </a:xfrm>
          <a:prstGeom prst="rect">
            <a:avLst/>
          </a:prstGeom>
          <a:noFill/>
          <a:ln/>
        </p:spPr>
        <p:txBody>
          <a:bodyPr wrap="square" lIns="27432" tIns="36576" rIns="36576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371F5B"/>
                </a:solidFill>
                <a:latin typeface="Aptos"/>
              </a:rPr>
              <a:t>OBJECTIVES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• Turn zone-level moisture, pH and a nutrient index into transparent priority flags.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Allocate a limited number of irrigation actions using a classical baseline.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Compare the baseline with a small quantum-circuit sampling experiment.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Make uncertainty and evidence limits visible in the interface.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WHAT IS NOVEL IN THIS PROTOTYPE?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A single workflow connects an understandable farming decision to a measurable hybrid-computing experiment: same inputs, same budget, and an explicit comparison against classical exhaustive search.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SUCCESS CRITERIA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C5C84"/>
                </a:solidFill>
                <a:latin typeface="Aptos"/>
              </a:rPr>
              <a:t>A reproducible demo, interpretable recommendations, correct budget constraints and honest reporting—not a pre-assumed quantum win.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35240" cy="2606040"/>
          </a:xfrm>
          <a:prstGeom prst="rect">
            <a:avLst/>
          </a:prstGeom>
          <a:noFill/>
          <a:ln/>
        </p:spPr>
        <p:txBody>
          <a:bodyPr wrap="square" lIns="27432" tIns="36576" rIns="36576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371F5B"/>
                </a:solidFill>
                <a:latin typeface="Aptos"/>
              </a:rPr>
              <a:t>SOLUTION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1. Show example soil readings by zone.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2. Calculate an illustrative dryness-priority score.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3. Flag unusual pH / low nutrient-index zones for soil-test follow-up.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4. Select zones within a user-set irrigation budget.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5. Compare classical selection with sampled quantum-circuit candidates.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QUANTUM ROLE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A small Qiskit circuit uses RY rotations to bias candidate bitstrings toward higher-priority zones. Classical post-processing filters candidates to the budget and scores them.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ADVANTAGE STATUS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C5C84"/>
                </a:solidFill>
                <a:latin typeface="Aptos"/>
              </a:rPr>
              <a:t>No quantum advantage is claimed. The toy problem is small enough for classical exhaustive search, which provides an exact baseline.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47088"/>
            <a:ext cx="2834640" cy="260604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sz="1100" b="1">
                <a:solidFill>
                  <a:srgbClr val="371F5B"/>
                </a:solidFill>
                <a:latin typeface="Aptos"/>
              </a:rPr>
              <a:t>1  Encode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sz="900">
                <a:solidFill>
                  <a:srgbClr val="2D244B"/>
                </a:solidFill>
                <a:latin typeface="Aptos"/>
              </a:rPr>
              <a:t>Moisture priority maps to a rotation angle θᵢ.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371F5B"/>
                </a:solidFill>
                <a:latin typeface="Aptos"/>
              </a:rPr>
              <a:t>2  Sample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2D244B"/>
                </a:solidFill>
                <a:latin typeface="Aptos"/>
              </a:rPr>
              <a:t>Statevector simulation produces candidate bitstrings.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371F5B"/>
                </a:solidFill>
                <a:latin typeface="Aptos"/>
              </a:rPr>
              <a:t>3  Filter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2D244B"/>
                </a:solidFill>
                <a:latin typeface="Aptos"/>
              </a:rPr>
              <a:t>Keep candidates with exactly k selected zones.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371F5B"/>
                </a:solidFill>
                <a:latin typeface="Aptos"/>
              </a:rPr>
              <a:t>4  Score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2D244B"/>
                </a:solidFill>
                <a:latin typeface="Aptos"/>
              </a:rPr>
              <a:t>Python sums the selected zones’ priority scores.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371F5B"/>
                </a:solidFill>
                <a:latin typeface="Aptos"/>
              </a:rPr>
              <a:t>5  Compare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2D244B"/>
                </a:solidFill>
                <a:latin typeface="Aptos"/>
              </a:rPr>
              <a:t>Classical exhaustive search gives the exact toy optimum.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58368" y="1810512"/>
            <a:ext cx="4480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r>
              <a:rPr sz="1000" b="1" i="0">
                <a:solidFill>
                  <a:srgbClr val="371F5B"/>
                </a:solidFill>
                <a:latin typeface="Aptos"/>
              </a:rPr>
              <a:t>4-QUBIT PRIORITY-BIASED SAMPLING CIRCUIT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231136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2D244B"/>
                </a:solidFill>
                <a:latin typeface="Aptos"/>
              </a:rPr>
              <a:t>q0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24128" y="2331720"/>
            <a:ext cx="3364992" cy="0"/>
          </a:xfrm>
          <a:prstGeom prst="line">
            <a:avLst/>
          </a:prstGeom>
          <a:ln w="15240">
            <a:solidFill>
              <a:srgbClr val="7D8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417320" y="2167127"/>
            <a:ext cx="1051560" cy="329184"/>
          </a:xfrm>
          <a:prstGeom prst="roundRect">
            <a:avLst/>
          </a:prstGeom>
          <a:solidFill>
            <a:srgbClr val="DFE6FF"/>
          </a:solidFill>
          <a:ln w="12700">
            <a:solidFill>
              <a:srgbClr val="708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000" b="1">
                <a:solidFill>
                  <a:srgbClr val="371F5B"/>
                </a:solidFill>
                <a:latin typeface="Aptos"/>
              </a:rPr>
              <a:t>RY(θ0)</a:t>
            </a:r>
          </a:p>
        </p:txBody>
      </p:sp>
      <p:sp>
        <p:nvSpPr>
          <p:cNvPr id="30" name="Oval 29"/>
          <p:cNvSpPr/>
          <p:nvPr/>
        </p:nvSpPr>
        <p:spPr>
          <a:xfrm>
            <a:off x="3200400" y="2231136"/>
            <a:ext cx="201168" cy="201168"/>
          </a:xfrm>
          <a:prstGeom prst="ellipse">
            <a:avLst/>
          </a:prstGeom>
          <a:solidFill>
            <a:srgbClr val="E8519B"/>
          </a:solidFill>
          <a:ln>
            <a:solidFill>
              <a:srgbClr val="E85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93008" y="221284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C5C84"/>
                </a:solidFill>
                <a:latin typeface="Aptos"/>
              </a:rPr>
              <a:t>sample 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6090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2D244B"/>
                </a:solidFill>
                <a:latin typeface="Aptos"/>
              </a:rPr>
              <a:t>q1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4128" y="2761488"/>
            <a:ext cx="3364992" cy="0"/>
          </a:xfrm>
          <a:prstGeom prst="line">
            <a:avLst/>
          </a:prstGeom>
          <a:ln w="15240">
            <a:solidFill>
              <a:srgbClr val="7D8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417320" y="2596896"/>
            <a:ext cx="1051560" cy="329184"/>
          </a:xfrm>
          <a:prstGeom prst="roundRect">
            <a:avLst/>
          </a:prstGeom>
          <a:solidFill>
            <a:srgbClr val="DFE6FF"/>
          </a:solidFill>
          <a:ln w="12700">
            <a:solidFill>
              <a:srgbClr val="708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000" b="1">
                <a:solidFill>
                  <a:srgbClr val="371F5B"/>
                </a:solidFill>
                <a:latin typeface="Aptos"/>
              </a:rPr>
              <a:t>RY(θ1)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0" y="2660904"/>
            <a:ext cx="201168" cy="201168"/>
          </a:xfrm>
          <a:prstGeom prst="ellipse">
            <a:avLst/>
          </a:prstGeom>
          <a:solidFill>
            <a:srgbClr val="E8519B"/>
          </a:solidFill>
          <a:ln>
            <a:solidFill>
              <a:srgbClr val="E85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93008" y="2642616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C5C84"/>
                </a:solidFill>
                <a:latin typeface="Aptos"/>
              </a:rPr>
              <a:t>sample bit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2D244B"/>
                </a:solidFill>
                <a:latin typeface="Aptos"/>
              </a:rPr>
              <a:t>q2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24128" y="3191256"/>
            <a:ext cx="3364992" cy="0"/>
          </a:xfrm>
          <a:prstGeom prst="line">
            <a:avLst/>
          </a:prstGeom>
          <a:ln w="15240">
            <a:solidFill>
              <a:srgbClr val="7D8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417320" y="3026664"/>
            <a:ext cx="1051560" cy="329184"/>
          </a:xfrm>
          <a:prstGeom prst="roundRect">
            <a:avLst/>
          </a:prstGeom>
          <a:solidFill>
            <a:srgbClr val="DFE6FF"/>
          </a:solidFill>
          <a:ln w="12700">
            <a:solidFill>
              <a:srgbClr val="708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000" b="1">
                <a:solidFill>
                  <a:srgbClr val="371F5B"/>
                </a:solidFill>
                <a:latin typeface="Aptos"/>
              </a:rPr>
              <a:t>RY(θ2)</a:t>
            </a:r>
          </a:p>
        </p:txBody>
      </p:sp>
      <p:sp>
        <p:nvSpPr>
          <p:cNvPr id="40" name="Oval 39"/>
          <p:cNvSpPr/>
          <p:nvPr/>
        </p:nvSpPr>
        <p:spPr>
          <a:xfrm>
            <a:off x="3200400" y="3090672"/>
            <a:ext cx="201168" cy="201168"/>
          </a:xfrm>
          <a:prstGeom prst="ellipse">
            <a:avLst/>
          </a:prstGeom>
          <a:solidFill>
            <a:srgbClr val="E8519B"/>
          </a:solidFill>
          <a:ln>
            <a:solidFill>
              <a:srgbClr val="E85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93008" y="307238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C5C84"/>
                </a:solidFill>
                <a:latin typeface="Aptos"/>
              </a:rPr>
              <a:t>sample bit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52044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2D244B"/>
                </a:solidFill>
                <a:latin typeface="Aptos"/>
              </a:rPr>
              <a:t>q3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24128" y="3621024"/>
            <a:ext cx="3364992" cy="0"/>
          </a:xfrm>
          <a:prstGeom prst="line">
            <a:avLst/>
          </a:prstGeom>
          <a:ln w="15240">
            <a:solidFill>
              <a:srgbClr val="7D8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417320" y="3456432"/>
            <a:ext cx="1051560" cy="329184"/>
          </a:xfrm>
          <a:prstGeom prst="roundRect">
            <a:avLst/>
          </a:prstGeom>
          <a:solidFill>
            <a:srgbClr val="DFE6FF"/>
          </a:solidFill>
          <a:ln w="12700">
            <a:solidFill>
              <a:srgbClr val="708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000" b="1">
                <a:solidFill>
                  <a:srgbClr val="371F5B"/>
                </a:solidFill>
                <a:latin typeface="Aptos"/>
              </a:rPr>
              <a:t>RY(θ3)</a:t>
            </a:r>
          </a:p>
        </p:txBody>
      </p:sp>
      <p:sp>
        <p:nvSpPr>
          <p:cNvPr id="45" name="Oval 44"/>
          <p:cNvSpPr/>
          <p:nvPr/>
        </p:nvSpPr>
        <p:spPr>
          <a:xfrm>
            <a:off x="3200400" y="3520440"/>
            <a:ext cx="201168" cy="201168"/>
          </a:xfrm>
          <a:prstGeom prst="ellipse">
            <a:avLst/>
          </a:prstGeom>
          <a:solidFill>
            <a:srgbClr val="E8519B"/>
          </a:solidFill>
          <a:ln>
            <a:solidFill>
              <a:srgbClr val="E85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93008" y="350215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5C5C84"/>
                </a:solidFill>
                <a:latin typeface="Aptos"/>
              </a:rPr>
              <a:t>sample bit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3950208"/>
            <a:ext cx="4434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000" b="1" i="0">
                <a:solidFill>
                  <a:srgbClr val="371F5B"/>
                </a:solidFill>
                <a:latin typeface="Aptos"/>
              </a:rPr>
              <a:t>Bitstrings → budget filter → classical score → best sampled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35240" cy="2606040"/>
          </a:xfrm>
          <a:prstGeom prst="rect">
            <a:avLst/>
          </a:prstGeom>
          <a:noFill/>
          <a:ln/>
        </p:spPr>
        <p:txBody>
          <a:bodyPr wrap="square" lIns="27432" tIns="36576" rIns="36576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371F5B"/>
                </a:solidFill>
                <a:latin typeface="Aptos"/>
              </a:rPr>
              <a:t>IMPLEMENTATION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• Front end: Streamlit dashboard with editable zone readings, sliders, tables and charts.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Data layer: Pandas / NumPy for tabular processing and score calculations.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Classical baseline: exhaustive combinations for a small fixed-budget allocation.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Quantum experiment: Qiskit circuit with RY rotations and statevector probabilities; candidate sampling and scoring in Python.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ENVIRONMENT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Python 3.11+ recommended · VS Code · .venv virtual environment · Git/GitHub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RUN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C5C84"/>
                </a:solidFill>
                <a:latin typeface="Aptos"/>
              </a:rPr>
              <a:t>python -m pip install -r requirements.txt</a:t>
            </a:r>
            <a:r>
              <a:t/>
            </a:r>
            <a:br/>
            <a:r>
              <a:rPr sz="1100" i="1">
                <a:solidFill>
                  <a:srgbClr val="5C5C84"/>
                </a:solidFill>
                <a:latin typeface="Aptos"/>
              </a:rPr>
              <a:t>python -m streamlit run app.py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47088"/>
            <a:ext cx="2788920" cy="260604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371F5B"/>
                </a:solidFill>
                <a:latin typeface="Aptos"/>
              </a:rPr>
              <a:t>Input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sz="850">
                <a:solidFill>
                  <a:srgbClr val="2D244B"/>
                </a:solidFill>
                <a:latin typeface="Aptos"/>
              </a:rPr>
              <a:t>4 synthetic zones; target 25%; budget k = 2.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371F5B"/>
                </a:solidFill>
                <a:latin typeface="Aptos"/>
              </a:rPr>
              <a:t>Priority scores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2D244B"/>
                </a:solidFill>
                <a:latin typeface="Aptos"/>
              </a:rPr>
              <a:t>A1 = 0.12 · A2 = 0.56 · B1 = 0.00 · B2 = 0.36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371F5B"/>
                </a:solidFill>
                <a:latin typeface="Aptos"/>
              </a:rPr>
              <a:t>Classical optimum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2D244B"/>
                </a:solidFill>
                <a:latin typeface="Aptos"/>
              </a:rPr>
              <a:t>Select A2 + B2; combined score = 0.92.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371F5B"/>
                </a:solidFill>
                <a:latin typeface="Aptos"/>
              </a:rPr>
              <a:t>Quantum comparison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2D244B"/>
                </a:solidFill>
                <a:latin typeface="Aptos"/>
              </a:rPr>
              <a:t>Circuit sampling is included in the app. Record its runtime and result during execution; no quantum speedup is claimed here.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58368" y="1810512"/>
            <a:ext cx="4480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r>
              <a:rPr sz="1000" b="1" i="0">
                <a:solidFill>
                  <a:srgbClr val="371F5B"/>
                </a:solidFill>
                <a:latin typeface="Aptos"/>
              </a:rPr>
              <a:t>SYNTHETIC DEMO READINGS · MOISTURE (%)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931920"/>
            <a:ext cx="4069080" cy="0"/>
          </a:xfrm>
          <a:prstGeom prst="line">
            <a:avLst/>
          </a:prstGeom>
          <a:ln w="12700">
            <a:solidFill>
              <a:srgbClr val="7D8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234440" y="2926079"/>
            <a:ext cx="438912" cy="1005840"/>
          </a:xfrm>
          <a:prstGeom prst="rect">
            <a:avLst/>
          </a:prstGeom>
          <a:solidFill>
            <a:srgbClr val="7089F0"/>
          </a:solidFill>
          <a:ln>
            <a:solidFill>
              <a:srgbClr val="708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07008" y="2697479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977639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A1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429000"/>
            <a:ext cx="438912" cy="502920"/>
          </a:xfrm>
          <a:prstGeom prst="rect">
            <a:avLst/>
          </a:prstGeom>
          <a:solidFill>
            <a:srgbClr val="E8519B"/>
          </a:solidFill>
          <a:ln>
            <a:solidFill>
              <a:srgbClr val="E85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21408" y="32004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3977639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A2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2651760"/>
            <a:ext cx="438912" cy="1280160"/>
          </a:xfrm>
          <a:prstGeom prst="rect">
            <a:avLst/>
          </a:prstGeom>
          <a:solidFill>
            <a:srgbClr val="49855B"/>
          </a:solidFill>
          <a:ln>
            <a:solidFill>
              <a:srgbClr val="49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35808" y="242316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3977639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B1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3200400"/>
            <a:ext cx="438912" cy="731520"/>
          </a:xfrm>
          <a:prstGeom prst="rect">
            <a:avLst/>
          </a:prstGeom>
          <a:solidFill>
            <a:srgbClr val="D68B39"/>
          </a:solidFill>
          <a:ln>
            <a:solidFill>
              <a:srgbClr val="D68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0207" y="2971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3977639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D244B"/>
                </a:solidFill>
                <a:latin typeface="Aptos"/>
              </a:rPr>
              <a:t>B2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096512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1">
                <a:solidFill>
                  <a:srgbClr val="5C5C84"/>
                </a:solidFill>
                <a:latin typeface="Aptos"/>
              </a:rPr>
              <a:t>Illustrative target = 25% · Threshold is not crop-specific advice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35240" cy="2606040"/>
          </a:xfrm>
          <a:prstGeom prst="rect">
            <a:avLst/>
          </a:prstGeom>
          <a:noFill/>
          <a:ln/>
        </p:spPr>
        <p:txBody>
          <a:bodyPr wrap="square" lIns="27432" tIns="36576" rIns="36576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371F5B"/>
                </a:solidFill>
                <a:latin typeface="Aptos"/>
              </a:rPr>
              <a:t>POTENTIAL IMPACT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• Target irrigation decisions to zones showing moisture stress.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Flag zones for follow-up soil testing instead of automatically prescribing fertilizer.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Help explain resource-allocation trade-offs to farmers and students.</a:t>
            </a:r>
            <a:r>
              <a:t/>
            </a:r>
            <a:br/>
            <a:r>
              <a:rPr sz="1300">
                <a:solidFill>
                  <a:srgbClr val="2D244B"/>
                </a:solidFill>
                <a:latin typeface="Aptos"/>
              </a:rPr>
              <a:t>• Provide a reproducible testbed for comparing optimization methods.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REAL-WORLD PATH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244B"/>
                </a:solidFill>
                <a:latin typeface="Aptos"/>
              </a:rPr>
              <a:t>Connect to validated local soil tests, crop-specific thresholds, weather and irrigation records; co-design recommendations with farmers and agronomists.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371F5B"/>
                </a:solidFill>
                <a:latin typeface="Aptos"/>
              </a:rPr>
              <a:t>EVIDENCE STATUS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C5C84"/>
                </a:solidFill>
                <a:latin typeface="Aptos"/>
              </a:rPr>
              <a:t>This prototype has not been field-tested. Water, fertilizer, yield, emissions and cost savings are hypotheses to measure—not achieved results.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35240" cy="2606040"/>
          </a:xfrm>
          <a:prstGeom prst="rect">
            <a:avLst/>
          </a:prstGeom>
          <a:noFill/>
          <a:ln/>
        </p:spPr>
        <p:txBody>
          <a:bodyPr wrap="square" lIns="27432" tIns="36576" rIns="36576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371F5B"/>
                </a:solidFill>
                <a:latin typeface="Aptos"/>
              </a:rPr>
              <a:t>CURRENT LIMITATIONS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244B"/>
                </a:solidFill>
                <a:latin typeface="Aptos"/>
              </a:rPr>
              <a:t>• Synthetic data only; no live quantum sensor or field measurements.</a:t>
            </a:r>
            <a:r>
              <a:t/>
            </a:r>
            <a:br/>
            <a:r>
              <a:rPr sz="1200">
                <a:solidFill>
                  <a:srgbClr val="2D244B"/>
                </a:solidFill>
                <a:latin typeface="Aptos"/>
              </a:rPr>
              <a:t>• Simple moisture score and illustrative pH / nitrogen flags are not agronomic diagnoses.</a:t>
            </a:r>
            <a:r>
              <a:t/>
            </a:r>
            <a:br/>
            <a:r>
              <a:rPr sz="1200">
                <a:solidFill>
                  <a:srgbClr val="2D244B"/>
                </a:solidFill>
                <a:latin typeface="Aptos"/>
              </a:rPr>
              <a:t>• Tiny allocation problem is solved exactly by classical search.</a:t>
            </a:r>
            <a:r>
              <a:t/>
            </a:r>
            <a:br/>
            <a:r>
              <a:rPr sz="1200">
                <a:solidFill>
                  <a:srgbClr val="2D244B"/>
                </a:solidFill>
                <a:latin typeface="Aptos"/>
              </a:rPr>
              <a:t>• Quantum-circuit simulation runs on classical hardware; quantum advantage is unproven.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71F5B"/>
                </a:solidFill>
                <a:latin typeface="Aptos"/>
              </a:rPr>
              <a:t>NEXT STEPS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244B"/>
                </a:solidFill>
                <a:latin typeface="Aptos"/>
              </a:rPr>
              <a:t>1. Validate with crop-specific soil samples and agronomist guidance.</a:t>
            </a:r>
            <a:r>
              <a:t/>
            </a:r>
            <a:br/>
            <a:r>
              <a:rPr sz="1200">
                <a:solidFill>
                  <a:srgbClr val="2D244B"/>
                </a:solidFill>
                <a:latin typeface="Aptos"/>
              </a:rPr>
              <a:t>2. Add weather, crop stage and real irrigation volumes.</a:t>
            </a:r>
            <a:r>
              <a:t/>
            </a:r>
            <a:br/>
            <a:r>
              <a:rPr sz="1200">
                <a:solidFill>
                  <a:srgbClr val="2D244B"/>
                </a:solidFill>
                <a:latin typeface="Aptos"/>
              </a:rPr>
              <a:t>3. Compare classical heuristics, exact optimization and quantum/hybrid methods over repeated trials.</a:t>
            </a:r>
            <a:r>
              <a:t/>
            </a:r>
            <a:br/>
            <a:r>
              <a:rPr sz="1200">
                <a:solidFill>
                  <a:srgbClr val="2D244B"/>
                </a:solidFill>
                <a:latin typeface="Aptos"/>
              </a:rPr>
              <a:t>4. Report solution quality, runtime, uncertainty and total compute cost.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71F5B"/>
                </a:solidFill>
                <a:latin typeface="Aptos"/>
              </a:rPr>
              <a:t>DATA / DOCS</a:t>
            </a:r>
          </a:p>
          <a:p>
            <a:pPr>
              <a:spcAft>
                <a:spcPts val="400"/>
              </a:spcAft>
            </a:pPr>
            <a:r>
              <a:rPr sz="1000" i="1">
                <a:solidFill>
                  <a:srgbClr val="5C5C84"/>
                </a:solidFill>
                <a:latin typeface="Aptos"/>
              </a:rPr>
              <a:t>NASA-USDA soil moisture: earth.gsfc.nasa.gov/hydro/data/nasa-usda-global-soil-moisture-data  ·  SoilGrids: isric.org/explore/soilgrids  ·  Qiskit: qiskit.qotlabs.org/docs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3000" b="1" i="0">
                <a:solidFill>
                  <a:srgbClr val="371F5B"/>
                </a:solidFill>
                <a:latin typeface="Aptos"/>
              </a:rPr>
              <a:t>Thank You</a:t>
            </a:r>
            <a:r>
              <a:t/>
            </a:r>
            <a:br/>
            <a:r>
              <a:rPr sz="3000" b="1" i="0">
                <a:solidFill>
                  <a:srgbClr val="371F5B"/>
                </a:solidFill>
                <a:latin typeface="Aptos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>
              <a:buNone/>
            </a:pPr>
            <a:r>
              <a:rPr sz="1300" b="0" i="0">
                <a:solidFill>
                  <a:srgbClr val="5C5C84"/>
                </a:solidFill>
                <a:latin typeface="Aptos"/>
              </a:rPr>
              <a:t>Smarter allocation. Healthier soil. Evidence before claims.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800" b="1" i="0">
                <a:solidFill>
                  <a:srgbClr val="371F5B"/>
                </a:solidFill>
                <a:latin typeface="Aptos"/>
              </a:rPr>
              <a:t>GITHUB REPOSITORY</a:t>
            </a:r>
            <a:r>
              <a:t/>
            </a:r>
            <a:br/>
            <a:r>
              <a:rPr sz="800" b="1" i="0">
                <a:solidFill>
                  <a:srgbClr val="371F5B"/>
                </a:solidFill>
                <a:latin typeface="Aptos"/>
              </a:rPr>
              <a:t>vtu-qiskit-fall-fest-2026/vtu-hc-hacktrioz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36576" tIns="36576" rIns="36576" bIns="36576" rtlCol="0" anchor="t"/>
          <a:lstStyle/>
          <a:p>
            <a:pPr marL="0" indent="0" algn="l">
              <a:buNone/>
            </a:pPr>
            <a:r>
              <a:rPr sz="900" b="1" i="0">
                <a:solidFill>
                  <a:srgbClr val="371F5B"/>
                </a:solidFill>
                <a:latin typeface="Aptos"/>
              </a:rPr>
              <a:t>DEMO VIDEO LINK</a:t>
            </a:r>
            <a:r>
              <a:t/>
            </a:r>
            <a:br/>
            <a:r>
              <a:rPr sz="900" b="1" i="0">
                <a:solidFill>
                  <a:srgbClr val="371F5B"/>
                </a:solidFill>
                <a:latin typeface="Aptos"/>
              </a:rPr>
              <a:t>To be added after recording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Office PowerPoint</Application>
  <PresentationFormat>On-screen Show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2</cp:revision>
  <dcterms:modified xsi:type="dcterms:W3CDTF">2026-10-23T09:31:58Z</dcterms:modified>
</cp:coreProperties>
</file>